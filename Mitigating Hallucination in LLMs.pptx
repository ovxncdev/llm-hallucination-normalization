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Roboto Thin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Montserrat Black"/>
      <p:bold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3BCE98-B4BB-417E-91B3-D6D11B8F4806}">
  <a:tblStyle styleId="{5F3BCE98-B4BB-417E-91B3-D6D11B8F4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RobotoThin-bold.fntdata"/><Relationship Id="rId21" Type="http://schemas.openxmlformats.org/officeDocument/2006/relationships/font" Target="fonts/RobotoThin-regular.fntdata"/><Relationship Id="rId24" Type="http://schemas.openxmlformats.org/officeDocument/2006/relationships/font" Target="fonts/RobotoThin-boldItalic.fntdata"/><Relationship Id="rId23" Type="http://schemas.openxmlformats.org/officeDocument/2006/relationships/font" Target="fonts/RobotoThi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MontserratBlack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Medium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bold.fntdata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boldItalic.fntdata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7afa87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97afa87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7afa87c7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7afa87c7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7afa87c7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7afa87c7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7afa87c7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7afa87c7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7afa87c7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7afa87c7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7afa87c7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7afa87c7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a9c238189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a9c238189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b07e6ff6d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b07e6ff6d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b07e6ff6d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b07e6ff6d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4915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Mitigating Hallucination in LLMs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38702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Paper Review and Project Direction</a:t>
            </a:r>
            <a:endParaRPr b="1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626727"/>
            <a:ext cx="85206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 Application - CANSSI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413619" y="4231759"/>
            <a:ext cx="432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2"/>
                </a:solidFill>
              </a:rPr>
              <a:t>Wilfrid Laurier University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666100" y="326925"/>
            <a:ext cx="639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WHY HALLUCINATION MATTERS</a:t>
            </a:r>
            <a:endParaRPr sz="2400"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3" name="Google Shape;63;p14"/>
          <p:cNvSpPr/>
          <p:nvPr/>
        </p:nvSpPr>
        <p:spPr>
          <a:xfrm rot="-2700000">
            <a:off x="3906958" y="2314881"/>
            <a:ext cx="1323704" cy="1320734"/>
          </a:xfrm>
          <a:prstGeom prst="ellipse">
            <a:avLst/>
          </a:prstGeom>
          <a:solidFill>
            <a:srgbClr val="D786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14"/>
          <p:cNvGrpSpPr/>
          <p:nvPr/>
        </p:nvGrpSpPr>
        <p:grpSpPr>
          <a:xfrm>
            <a:off x="1917433" y="1857255"/>
            <a:ext cx="2742176" cy="2667697"/>
            <a:chOff x="1917433" y="1453653"/>
            <a:chExt cx="2742176" cy="2667697"/>
          </a:xfrm>
        </p:grpSpPr>
        <p:sp>
          <p:nvSpPr>
            <p:cNvPr id="65" name="Google Shape;65;p14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701C7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Poor Calibration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3451411" y="2883449"/>
            <a:ext cx="2669123" cy="2745704"/>
            <a:chOff x="3451411" y="2479847"/>
            <a:chExt cx="2669123" cy="2745704"/>
          </a:xfrm>
        </p:grpSpPr>
        <p:sp>
          <p:nvSpPr>
            <p:cNvPr id="69" name="Google Shape;69;p14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771E86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Two Papers Reviewed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481729" y="1425655"/>
            <a:ext cx="2744808" cy="2664963"/>
            <a:chOff x="4481729" y="1022053"/>
            <a:chExt cx="2744808" cy="2664963"/>
          </a:xfrm>
        </p:grpSpPr>
        <p:sp>
          <p:nvSpPr>
            <p:cNvPr id="73" name="Google Shape;73;p14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80209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Distribution Mismatch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3026172" y="326915"/>
            <a:ext cx="2655026" cy="2740082"/>
            <a:chOff x="3026172" y="-76686"/>
            <a:chExt cx="2655026" cy="2740082"/>
          </a:xfrm>
        </p:grpSpPr>
        <p:sp>
          <p:nvSpPr>
            <p:cNvPr id="77" name="Google Shape;77;p14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Fluent but Factually Wrong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1: OBJECTIVES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1339975"/>
            <a:ext cx="566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Multimodal LLMs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Hallucination = Emotional Misalignment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Plutchik’s Wheel guides generation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  sheet  document (Provided by Getty Images)"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035" y="3198674"/>
            <a:ext cx="1404948" cy="1404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, jpg photo gray icon (Provided by Getty Images)"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2326" y="2986743"/>
            <a:ext cx="1904998" cy="1904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blic Domain Clip Art Image | Cartoon robot | ID: 13539934212140 ..."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7553" y="2539462"/>
            <a:ext cx="2117300" cy="24952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1904983" y="3614813"/>
            <a:ext cx="572700" cy="5727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455772" y="3713137"/>
            <a:ext cx="742500" cy="37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322449" y="807305"/>
            <a:ext cx="418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Wheel of Emotions (Wang et al., 2026)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1 METHODS (EAI Framework)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339975"/>
            <a:ext cx="656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Extract emotion from text + images</a:t>
            </a: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Map emotions onto the Wheel, boost/supress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Penalize hallucinated emotions in final output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322449" y="807305"/>
            <a:ext cx="418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EAI Works: Three Stages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05813" y="2436567"/>
            <a:ext cx="2726286" cy="2547000"/>
            <a:chOff x="1293736" y="1258050"/>
            <a:chExt cx="2726286" cy="2547000"/>
          </a:xfrm>
        </p:grpSpPr>
        <p:sp>
          <p:nvSpPr>
            <p:cNvPr id="100" name="Google Shape;100;p16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6156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200">
                <a:solidFill>
                  <a:srgbClr val="56156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MULTIMODAL INPUT</a:t>
              </a:r>
              <a:endParaRPr b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[Input] Text + Image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2316035" y="2436567"/>
            <a:ext cx="2726286" cy="2547000"/>
            <a:chOff x="3203958" y="1258050"/>
            <a:chExt cx="2726286" cy="2547000"/>
          </a:xfrm>
        </p:grpSpPr>
        <p:sp>
          <p:nvSpPr>
            <p:cNvPr id="105" name="Google Shape;105;p16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200">
                <a:solidFill>
                  <a:srgbClr val="77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EMOTION CONTRAST</a:t>
              </a:r>
              <a:endParaRPr b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[Emotion Mapping] Wheel of Emotions + EBF Weights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4236053" y="2436567"/>
            <a:ext cx="2726286" cy="2547000"/>
            <a:chOff x="5123977" y="1258050"/>
            <a:chExt cx="2726286" cy="2547000"/>
          </a:xfrm>
        </p:grpSpPr>
        <p:sp>
          <p:nvSpPr>
            <p:cNvPr id="110" name="Google Shape;110;p16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325A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200">
                <a:solidFill>
                  <a:srgbClr val="9325A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HALLUCINATION PENALTY</a:t>
              </a:r>
              <a:endParaRPr b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[Output] Clean Genereation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" name="Google Shape;114;p16"/>
          <p:cNvSpPr txBox="1"/>
          <p:nvPr/>
        </p:nvSpPr>
        <p:spPr>
          <a:xfrm>
            <a:off x="6328475" y="4664100"/>
            <a:ext cx="29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L'(y) = L(y) + α·E_pos(y) − β·E_neg(y)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1: Results and What’s Next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11700" y="2063850"/>
            <a:ext cx="656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+4-8% acc/F1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Negative context</a:t>
            </a:r>
            <a:b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reveals hallucinations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311699" y="1469775"/>
            <a:ext cx="1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2" name="Google Shape;122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975" y="1017725"/>
            <a:ext cx="4463328" cy="275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>
            <p:ph type="title"/>
          </p:nvPr>
        </p:nvSpPr>
        <p:spPr>
          <a:xfrm>
            <a:off x="3266049" y="3777550"/>
            <a:ext cx="175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Future Works: 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Music Notes vector files image - Free stock photo - Public Domain ..."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265" y="4627772"/>
            <a:ext cx="303227" cy="303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lle de dialogue comique Photo stock libre - Public Domain Pictures" id="125" name="Google Shape;12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3475" y="4660063"/>
            <a:ext cx="303226" cy="30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>
            <p:ph type="title"/>
          </p:nvPr>
        </p:nvSpPr>
        <p:spPr>
          <a:xfrm>
            <a:off x="742700" y="4253650"/>
            <a:ext cx="198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Audio Modality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3048863" y="4253650"/>
            <a:ext cx="258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Multi-turn Dialogues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5844150" y="4253650"/>
            <a:ext cx="29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Lightweight Deployment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a yellow lightning bolt with a white background (Provided by Tenor)"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8650" y="4635052"/>
            <a:ext cx="303225" cy="353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2: OBJECTIVES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11700" y="1339975"/>
            <a:ext cx="656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Survey of Three mitigation Paradigms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Taxonomy: knowledge-based vs logic-based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Montserrat"/>
              <a:buChar char="●"/>
            </a:pPr>
            <a:r>
              <a:rPr b="1" lang="en" sz="1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Capability enhancement, not error suppression</a:t>
            </a:r>
            <a:endParaRPr b="1" sz="18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322450" y="807300"/>
            <a:ext cx="523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AG, Reasoning &amp; Agentic Systems (Li et al., 2025)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2603620" y="2571756"/>
            <a:ext cx="1673848" cy="2339854"/>
            <a:chOff x="1118224" y="283725"/>
            <a:chExt cx="2232095" cy="4076400"/>
          </a:xfrm>
        </p:grpSpPr>
        <p:sp>
          <p:nvSpPr>
            <p:cNvPr id="138" name="Google Shape;138;p1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2025">
              <a:solidFill>
                <a:srgbClr val="77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7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Knowledge-based Hallucination</a:t>
              </a:r>
              <a:endParaRPr b="1" sz="957">
                <a:solidFill>
                  <a:srgbClr val="77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535319" y="2324759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4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Wrong Facts</a:t>
              </a:r>
              <a:endParaRPr sz="1104">
                <a:solidFill>
                  <a:srgbClr val="77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RAG</a:t>
              </a:r>
              <a:endParaRPr sz="2000">
                <a:solidFill>
                  <a:srgbClr val="77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  “Mary Johnson was the first US</a:t>
              </a:r>
              <a:br>
                <a:rPr lang="en" sz="6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       </a:t>
              </a:r>
              <a:r>
                <a:rPr lang="en" sz="6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astronaut</a:t>
              </a:r>
              <a:r>
                <a:rPr lang="en" sz="6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”</a:t>
              </a:r>
              <a:endParaRPr sz="6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4210898" y="2571756"/>
            <a:ext cx="1567911" cy="2339854"/>
            <a:chOff x="1118224" y="283725"/>
            <a:chExt cx="2090826" cy="4076400"/>
          </a:xfrm>
        </p:grpSpPr>
        <p:sp>
          <p:nvSpPr>
            <p:cNvPr id="146" name="Google Shape;146;p18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2025">
              <a:solidFill>
                <a:srgbClr val="77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7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Logic-based Hallucination</a:t>
              </a:r>
              <a:endParaRPr b="1" sz="957">
                <a:solidFill>
                  <a:srgbClr val="77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363092" y="2352885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4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Flawed Reasoning</a:t>
              </a:r>
              <a:endParaRPr sz="1041">
                <a:solidFill>
                  <a:srgbClr val="77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22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Reasoning</a:t>
              </a:r>
              <a:endParaRPr sz="2022">
                <a:solidFill>
                  <a:srgbClr val="77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650" lIns="57650" spcFirstLastPara="1" rIns="57650" wrap="square" tIns="576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“Today is colder, so tomorrow will be</a:t>
              </a:r>
              <a:endParaRPr sz="5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definitely cold too”</a:t>
              </a:r>
              <a:endParaRPr sz="4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2: </a:t>
            </a: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Methods Reviewed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8" name="Google Shape;158;p19"/>
          <p:cNvSpPr txBox="1"/>
          <p:nvPr>
            <p:ph type="title"/>
          </p:nvPr>
        </p:nvSpPr>
        <p:spPr>
          <a:xfrm>
            <a:off x="311700" y="921761"/>
            <a:ext cx="343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7901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Three Paradigms for Mitigation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632317" y="1479550"/>
            <a:ext cx="3305700" cy="3483050"/>
            <a:chOff x="5632317" y="1189775"/>
            <a:chExt cx="3305700" cy="3483050"/>
          </a:xfrm>
        </p:grpSpPr>
        <p:sp>
          <p:nvSpPr>
            <p:cNvPr id="160" name="Google Shape;160;p19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Agentic Systems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6167077" y="2057125"/>
              <a:ext cx="2665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Combines RAG + Reasoning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Planning, reflection, memory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Fixes: Composite Hallucinations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19"/>
          <p:cNvGrpSpPr/>
          <p:nvPr/>
        </p:nvGrpSpPr>
        <p:grpSpPr>
          <a:xfrm>
            <a:off x="0" y="1479764"/>
            <a:ext cx="3546900" cy="3482836"/>
            <a:chOff x="0" y="1189989"/>
            <a:chExt cx="3546900" cy="3482836"/>
          </a:xfrm>
        </p:grpSpPr>
        <p:sp>
          <p:nvSpPr>
            <p:cNvPr id="163" name="Google Shape;163;p19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RAG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655349" y="2057125"/>
              <a:ext cx="23823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Pre-retrieval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Retrieval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Post-retrieval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Fixes: Knowledge Hallucinations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2944204" y="1479550"/>
            <a:ext cx="3305700" cy="3483050"/>
            <a:chOff x="2944204" y="1189775"/>
            <a:chExt cx="3305700" cy="3483050"/>
          </a:xfrm>
        </p:grpSpPr>
        <p:sp>
          <p:nvSpPr>
            <p:cNvPr id="166" name="Google Shape;166;p19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Reasoning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Chain-of-Thought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Tool-augmented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Symbolic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Fixes: Logic Hallucinations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Paper 2: </a:t>
            </a: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Benchmarks &amp; Future Work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311701" y="843474"/>
            <a:ext cx="28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7901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Benchmarks &amp; What's Next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{5F3BCE98-B4BB-417E-91B3-D6D11B8F4806}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Hallucination Type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 Benchmark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Capability Tested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Knowledge-based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TruthfulQA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Factual accuracy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Logic-based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LogicBench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Reasoning validity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Composite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AgentBench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Agentic workflows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71E8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>
            <p:ph type="title"/>
          </p:nvPr>
        </p:nvSpPr>
        <p:spPr>
          <a:xfrm>
            <a:off x="3767099" y="3777550"/>
            <a:ext cx="175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62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Future Works: </a:t>
            </a:r>
            <a:endParaRPr b="1" sz="162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802875" y="4186567"/>
            <a:ext cx="23121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Standardized RAG </a:t>
            </a:r>
            <a:b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</a:t>
            </a:r>
            <a:b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Reasoning Integration</a:t>
            </a:r>
            <a:endParaRPr sz="132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3415950" y="4350242"/>
            <a:ext cx="23121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Lightweight agentic systems</a:t>
            </a:r>
            <a:endParaRPr sz="132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8" name="Google Shape;178;p20"/>
          <p:cNvSpPr txBox="1"/>
          <p:nvPr>
            <p:ph type="title"/>
          </p:nvPr>
        </p:nvSpPr>
        <p:spPr>
          <a:xfrm>
            <a:off x="5778500" y="4186565"/>
            <a:ext cx="23121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Balance reliability </a:t>
            </a:r>
            <a:b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vs. </a:t>
            </a:r>
            <a:b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32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creativity</a:t>
            </a:r>
            <a:endParaRPr sz="132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Synthesis &amp; Project Direction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4" name="Google Shape;184;p21"/>
          <p:cNvSpPr txBox="1"/>
          <p:nvPr>
            <p:ph type="title"/>
          </p:nvPr>
        </p:nvSpPr>
        <p:spPr>
          <a:xfrm>
            <a:off x="311700" y="921750"/>
            <a:ext cx="402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7901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Connecting the Papers to This Project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>
            <a:off x="5632317" y="2262426"/>
            <a:ext cx="3305700" cy="3483050"/>
            <a:chOff x="5632317" y="1189775"/>
            <a:chExt cx="3305700" cy="3483050"/>
          </a:xfrm>
        </p:grpSpPr>
        <p:sp>
          <p:nvSpPr>
            <p:cNvPr id="186" name="Google Shape;186;p21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AFTER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1"/>
            <p:cNvSpPr txBox="1"/>
            <p:nvPr/>
          </p:nvSpPr>
          <p:spPr>
            <a:xfrm>
              <a:off x="6167077" y="2057125"/>
              <a:ext cx="2665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Post-hoc Verification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>
            <a:off x="0" y="2262641"/>
            <a:ext cx="3546900" cy="3482836"/>
            <a:chOff x="0" y="1189989"/>
            <a:chExt cx="3546900" cy="3482836"/>
          </a:xfrm>
        </p:grpSpPr>
        <p:sp>
          <p:nvSpPr>
            <p:cNvPr id="189" name="Google Shape;189;p21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BEFORE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655349" y="2057125"/>
              <a:ext cx="23823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Data Normalization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My focus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2944204" y="2262426"/>
            <a:ext cx="3305700" cy="3483050"/>
            <a:chOff x="2944204" y="1189775"/>
            <a:chExt cx="3305700" cy="3483050"/>
          </a:xfrm>
        </p:grpSpPr>
        <p:sp>
          <p:nvSpPr>
            <p:cNvPr id="192" name="Google Shape;192;p21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DURING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Paper 1: Emotion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●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Paper 2: RAG/CoT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References</a:t>
            </a:r>
            <a:endParaRPr>
              <a:solidFill>
                <a:srgbClr val="351C7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9" name="Google Shape;199;p22"/>
          <p:cNvSpPr txBox="1"/>
          <p:nvPr>
            <p:ph type="title"/>
          </p:nvPr>
        </p:nvSpPr>
        <p:spPr>
          <a:xfrm>
            <a:off x="311700" y="921750"/>
            <a:ext cx="8832300" cy="27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Wang, Z., Wang, J., &amp; You, F. (2026). Large language modeling of hallucinatory problem mitigation based on the wheel of emotions. Eural Netwroks, 193, 107996.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Li, Y., Fu, X., Verma, G., Buitelaar, P., &amp; Liu, M. (2025). Mitigating Hallucination in Larbe Language Models (LLMs): An application-Oriented Survey on RAG, Reasoning, and Agentic Systems arXiv:2510.24476.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Lin, S., Hilton, J., &amp; Evans, O. (2022). TruthfulQA: Measuring How Models Mimic Human Falsehoods. </a:t>
            </a: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Proceedings</a:t>
            </a:r>
            <a:r>
              <a:rPr lang="en" sz="162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of ACL 2022, 3214-3252.</a:t>
            </a:r>
            <a:endParaRPr sz="162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